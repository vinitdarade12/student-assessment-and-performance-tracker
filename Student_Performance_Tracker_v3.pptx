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60" r:id="rId4"/>
    <p:sldId id="259" r:id="rId5"/>
    <p:sldId id="257" r:id="rId6"/>
    <p:sldId id="266" r:id="rId7"/>
    <p:sldId id="265" r:id="rId8"/>
    <p:sldId id="263" r:id="rId9"/>
    <p:sldId id="264" r:id="rId10"/>
    <p:sldId id="262" r:id="rId11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118" autoAdjust="0"/>
  </p:normalViewPr>
  <p:slideViewPr>
    <p:cSldViewPr snapToGrid="0" snapToObjects="1">
      <p:cViewPr varScale="1">
        <p:scale>
          <a:sx n="103" d="100"/>
          <a:sy n="103" d="100"/>
        </p:scale>
        <p:origin x="87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pt_gradient_bg_v3_177012350408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1645920"/>
            <a:ext cx="6185989" cy="15696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800" b="1" dirty="0">
                <a:solidFill>
                  <a:srgbClr val="FFFFFF"/>
                </a:solidFill>
                <a:latin typeface="Times New Roman"/>
              </a:rPr>
              <a:t>Student Assessment &amp; </a:t>
            </a:r>
            <a:endParaRPr lang="en-US" sz="4800" b="1" dirty="0">
              <a:solidFill>
                <a:srgbClr val="FFFFFF"/>
              </a:solidFill>
              <a:latin typeface="Times New Roman"/>
            </a:endParaRPr>
          </a:p>
          <a:p>
            <a:r>
              <a:rPr sz="4800" b="1" dirty="0">
                <a:solidFill>
                  <a:srgbClr val="FFFFFF"/>
                </a:solidFill>
                <a:latin typeface="Times New Roman"/>
              </a:rPr>
              <a:t>Performance Tracker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6742" y="32155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 dirty="0">
                <a:solidFill>
                  <a:srgbClr val="ADD8E6"/>
                </a:solidFill>
                <a:latin typeface="Times New Roman"/>
              </a:rPr>
              <a:t>A Secure, Automated, and Data-Driven Educational Ecosystem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pt_gradient_bg_v3_177012350408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Times New Roman"/>
              </a:rPr>
              <a:t>Problem vs Innovation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8398" y="1614696"/>
            <a:ext cx="4137671" cy="12003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 dirty="0">
                <a:solidFill>
                  <a:srgbClr val="FFFFFF"/>
                </a:solidFill>
                <a:latin typeface="Times New Roman"/>
              </a:rPr>
              <a:t>Legacy Challenges:</a:t>
            </a:r>
          </a:p>
          <a:p>
            <a:r>
              <a:rPr sz="1800" b="0" dirty="0">
                <a:solidFill>
                  <a:srgbClr val="FFFFFF"/>
                </a:solidFill>
                <a:latin typeface="Times New Roman"/>
              </a:rPr>
              <a:t>• Fragmented data across departments.</a:t>
            </a:r>
          </a:p>
          <a:p>
            <a:r>
              <a:rPr sz="1800" b="0" dirty="0">
                <a:solidFill>
                  <a:srgbClr val="FFFFFF"/>
                </a:solidFill>
                <a:latin typeface="Times New Roman"/>
              </a:rPr>
              <a:t>• Manual reporting takes days to compile.</a:t>
            </a:r>
          </a:p>
          <a:p>
            <a:r>
              <a:rPr sz="1800" b="0" dirty="0">
                <a:solidFill>
                  <a:srgbClr val="FFFFFF"/>
                </a:solidFill>
                <a:latin typeface="Times New Roman"/>
              </a:rPr>
              <a:t>• Lack of real-time parent engagement.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25122" y="1634304"/>
            <a:ext cx="3977371" cy="9233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 dirty="0">
                <a:solidFill>
                  <a:srgbClr val="ADD8E6"/>
                </a:solidFill>
                <a:latin typeface="Times New Roman"/>
              </a:rPr>
              <a:t>Modern Solution:</a:t>
            </a:r>
          </a:p>
          <a:p>
            <a:r>
              <a:rPr sz="1800" b="0" dirty="0">
                <a:solidFill>
                  <a:srgbClr val="ADD8E6"/>
                </a:solidFill>
                <a:latin typeface="Times New Roman"/>
              </a:rPr>
              <a:t>• Sub-second automated alert generation.</a:t>
            </a:r>
          </a:p>
          <a:p>
            <a:r>
              <a:rPr sz="1800" b="0" dirty="0">
                <a:solidFill>
                  <a:srgbClr val="ADD8E6"/>
                </a:solidFill>
                <a:latin typeface="Times New Roman"/>
              </a:rPr>
              <a:t>• Interactive, mobile-responsive portals.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pt_gradient_bg_v3_177012350408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Times New Roman"/>
              </a:rPr>
              <a:t>Technology Stack &amp;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4876" y="1723979"/>
            <a:ext cx="768096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 dirty="0">
                <a:solidFill>
                  <a:srgbClr val="FFFFFF"/>
                </a:solidFill>
                <a:latin typeface="Times New Roman"/>
              </a:rPr>
              <a:t>• Backend: Java 17, Spring Boot 3 with Data JPA.</a:t>
            </a:r>
          </a:p>
          <a:p>
            <a:r>
              <a:rPr sz="2000" b="0" dirty="0">
                <a:solidFill>
                  <a:srgbClr val="FFFFFF"/>
                </a:solidFill>
                <a:latin typeface="Times New Roman"/>
              </a:rPr>
              <a:t>• Frontend: React 18, </a:t>
            </a:r>
            <a:r>
              <a:rPr sz="2000" b="0" dirty="0" err="1">
                <a:solidFill>
                  <a:srgbClr val="FFFFFF"/>
                </a:solidFill>
                <a:latin typeface="Times New Roman"/>
              </a:rPr>
              <a:t>Vite</a:t>
            </a:r>
            <a:r>
              <a:rPr sz="2000" b="0" dirty="0">
                <a:solidFill>
                  <a:srgbClr val="FFFFFF"/>
                </a:solidFill>
                <a:latin typeface="Times New Roman"/>
              </a:rPr>
              <a:t> for optimal performance.</a:t>
            </a:r>
          </a:p>
          <a:p>
            <a:r>
              <a:rPr sz="2000" b="0" dirty="0">
                <a:solidFill>
                  <a:srgbClr val="FFFFFF"/>
                </a:solidFill>
                <a:latin typeface="Times New Roman"/>
              </a:rPr>
              <a:t>• Notification: Twilio SMS Gateway &amp; Java Mail (SMTP).</a:t>
            </a:r>
          </a:p>
          <a:p>
            <a:r>
              <a:rPr sz="2000" b="0" dirty="0">
                <a:solidFill>
                  <a:srgbClr val="FFFFFF"/>
                </a:solidFill>
                <a:latin typeface="Times New Roman"/>
              </a:rPr>
              <a:t>• Reporting: .NET Core dedicated analytics service.</a:t>
            </a:r>
          </a:p>
          <a:p>
            <a:r>
              <a:rPr sz="2000" b="0" dirty="0">
                <a:solidFill>
                  <a:srgbClr val="FFFFFF"/>
                </a:solidFill>
                <a:latin typeface="Times New Roman"/>
              </a:rPr>
              <a:t>• Security: JWT based authentication &amp; role-based authorization.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pt_gradient_bg_v3_177012350408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Times New Roman"/>
              </a:rPr>
              <a:t>Functional Capabilities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0271" y="1723979"/>
            <a:ext cx="6652783" cy="224676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 dirty="0">
                <a:solidFill>
                  <a:srgbClr val="FFFFFF"/>
                </a:solidFill>
                <a:latin typeface="Times New Roman"/>
              </a:rPr>
              <a:t>• High-speed data processing for assessment marks and </a:t>
            </a:r>
            <a:r>
              <a:rPr lang="en-US" sz="2000" b="0" dirty="0">
                <a:solidFill>
                  <a:srgbClr val="FFFFFF"/>
                </a:solidFill>
                <a:latin typeface="Times New Roman"/>
              </a:rPr>
              <a:t>grades</a:t>
            </a:r>
            <a:r>
              <a:rPr sz="2000" b="0" dirty="0">
                <a:solidFill>
                  <a:srgbClr val="FFFFFF"/>
                </a:solidFill>
                <a:latin typeface="Times New Roman"/>
              </a:rPr>
              <a:t>.</a:t>
            </a:r>
          </a:p>
          <a:p>
            <a:r>
              <a:rPr sz="2000" b="0" dirty="0">
                <a:solidFill>
                  <a:srgbClr val="FFFFFF"/>
                </a:solidFill>
                <a:latin typeface="Times New Roman"/>
              </a:rPr>
              <a:t>• Secure multi-role access (Admin, Faculty, Student).</a:t>
            </a:r>
          </a:p>
          <a:p>
            <a:r>
              <a:rPr sz="2000" b="0" dirty="0">
                <a:solidFill>
                  <a:srgbClr val="FFFFFF"/>
                </a:solidFill>
                <a:latin typeface="Times New Roman"/>
              </a:rPr>
              <a:t>• Automated bulk upload processing for CSV/Excel data.</a:t>
            </a:r>
          </a:p>
          <a:p>
            <a:r>
              <a:rPr sz="2000" b="0" dirty="0">
                <a:solidFill>
                  <a:srgbClr val="FFFFFF"/>
                </a:solidFill>
                <a:latin typeface="Times New Roman"/>
              </a:rPr>
              <a:t>• Dynamic trend visualization.</a:t>
            </a:r>
          </a:p>
          <a:p>
            <a:r>
              <a:rPr sz="2000" b="0" dirty="0">
                <a:solidFill>
                  <a:srgbClr val="FFFFFF"/>
                </a:solidFill>
                <a:latin typeface="Times New Roman"/>
              </a:rPr>
              <a:t>• Integrated microservices logic for reporting and analytics.</a:t>
            </a:r>
            <a:endParaRPr lang="en-US" sz="2000" b="0" dirty="0">
              <a:solidFill>
                <a:srgbClr val="FFFFFF"/>
              </a:solidFill>
              <a:latin typeface="Times New Roman"/>
            </a:endParaRPr>
          </a:p>
          <a:p>
            <a:r>
              <a:rPr lang="en-IN" sz="2000" b="0" dirty="0">
                <a:solidFill>
                  <a:srgbClr val="FFFFFF"/>
                </a:solidFill>
                <a:latin typeface="Times New Roman"/>
              </a:rPr>
              <a:t>• Score predictor</a:t>
            </a:r>
            <a:endParaRPr lang="en-US" sz="2000" b="0" dirty="0">
              <a:solidFill>
                <a:srgbClr val="FFFFFF"/>
              </a:solidFill>
              <a:latin typeface="Times New Roman"/>
            </a:endParaRPr>
          </a:p>
          <a:p>
            <a:endParaRPr lang="en-US" sz="2000" dirty="0">
              <a:solidFill>
                <a:srgbClr val="FFFFFF"/>
              </a:solidFill>
              <a:latin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pt_gradient_bg_v3_177012350408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74320"/>
            <a:ext cx="6887976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3600" b="1" dirty="0">
                <a:solidFill>
                  <a:srgbClr val="FFFFFF"/>
                </a:solidFill>
                <a:latin typeface="Times New Roman"/>
              </a:rPr>
              <a:t>    </a:t>
            </a:r>
            <a:r>
              <a:rPr sz="3600" b="1" dirty="0">
                <a:solidFill>
                  <a:srgbClr val="FFFFFF"/>
                </a:solidFill>
                <a:latin typeface="Times New Roman"/>
              </a:rPr>
              <a:t>System Architecture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4805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DCDCDC"/>
                </a:solidFill>
                <a:latin typeface="Times New Roman"/>
              </a:rPr>
              <a:t>Spring Boot Backend manages REST APIs, Security, and multi-channel Notifications (SMTP/Twilio).</a:t>
            </a:r>
          </a:p>
        </p:txBody>
      </p:sp>
      <p:pic>
        <p:nvPicPr>
          <p:cNvPr id="9" name="Picture 8" descr="A diagram of a software system&#10;&#10;AI-generated content may be incorrect.">
            <a:extLst>
              <a:ext uri="{FF2B5EF4-FFF2-40B4-BE49-F238E27FC236}">
                <a16:creationId xmlns:a16="http://schemas.microsoft.com/office/drawing/2014/main" id="{2E9E5F3B-D502-F1EA-1A58-F45006F647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2756" y="963326"/>
            <a:ext cx="5832941" cy="351723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pt_gradient_bg_v3_1770123504087.png">
            <a:extLst>
              <a:ext uri="{FF2B5EF4-FFF2-40B4-BE49-F238E27FC236}">
                <a16:creationId xmlns:a16="http://schemas.microsoft.com/office/drawing/2014/main" id="{83660191-6C4E-4333-510A-464FBCA239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9E893F8-1801-29A7-3180-D4A2FB0F7C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644" y="1118773"/>
            <a:ext cx="8100775" cy="354340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36BD476-0448-E7B2-23DA-2D7C36641358}"/>
              </a:ext>
            </a:extLst>
          </p:cNvPr>
          <p:cNvSpPr txBox="1"/>
          <p:nvPr/>
        </p:nvSpPr>
        <p:spPr>
          <a:xfrm>
            <a:off x="457200" y="236221"/>
            <a:ext cx="66598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rgbClr val="FFFFFF"/>
                </a:solidFill>
                <a:latin typeface="Times New Roman"/>
              </a:rPr>
              <a:t>   Automation Architechture</a:t>
            </a:r>
          </a:p>
        </p:txBody>
      </p:sp>
    </p:spTree>
    <p:extLst>
      <p:ext uri="{BB962C8B-B14F-4D97-AF65-F5344CB8AC3E}">
        <p14:creationId xmlns:p14="http://schemas.microsoft.com/office/powerpoint/2010/main" val="9812256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pt_gradient_bg_v3_1770123504087.png">
            <a:extLst>
              <a:ext uri="{FF2B5EF4-FFF2-40B4-BE49-F238E27FC236}">
                <a16:creationId xmlns:a16="http://schemas.microsoft.com/office/drawing/2014/main" id="{78C23B45-864E-8954-2398-300F54A3ED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83E8FFC-711C-B8CA-1943-1B085FC598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3611" y="-470"/>
            <a:ext cx="7055004" cy="5143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43950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pt_gradient_bg_v3_1770123504087.png">
            <a:extLst>
              <a:ext uri="{FF2B5EF4-FFF2-40B4-BE49-F238E27FC236}">
                <a16:creationId xmlns:a16="http://schemas.microsoft.com/office/drawing/2014/main" id="{FB260605-0F01-B2BB-D6E5-6EBF487541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BCCF4B8-53A6-6212-A950-BD64698F19E4}"/>
              </a:ext>
            </a:extLst>
          </p:cNvPr>
          <p:cNvSpPr txBox="1"/>
          <p:nvPr/>
        </p:nvSpPr>
        <p:spPr>
          <a:xfrm>
            <a:off x="583579" y="512212"/>
            <a:ext cx="3331040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3600" b="1" dirty="0">
                <a:solidFill>
                  <a:srgbClr val="FFFFFF"/>
                </a:solidFill>
                <a:latin typeface="Times New Roman"/>
              </a:rPr>
              <a:t>   Future Scopes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717C330-AFF4-6862-BE27-977054BEBC59}"/>
              </a:ext>
            </a:extLst>
          </p:cNvPr>
          <p:cNvSpPr txBox="1"/>
          <p:nvPr/>
        </p:nvSpPr>
        <p:spPr>
          <a:xfrm>
            <a:off x="457200" y="1642203"/>
            <a:ext cx="6866239" cy="16312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sz="2000" b="0" dirty="0">
              <a:solidFill>
                <a:srgbClr val="FFFFFF"/>
              </a:solidFill>
              <a:latin typeface="Times New Roman"/>
            </a:endParaRPr>
          </a:p>
          <a:p>
            <a:r>
              <a:rPr sz="2000" b="0" dirty="0">
                <a:solidFill>
                  <a:srgbClr val="FFFFFF"/>
                </a:solidFill>
                <a:latin typeface="Times New Roman"/>
              </a:rPr>
              <a:t>• Smart Attendance: QR code based tracking system.</a:t>
            </a:r>
          </a:p>
          <a:p>
            <a:r>
              <a:rPr sz="2000" b="0" dirty="0">
                <a:solidFill>
                  <a:srgbClr val="FFFFFF"/>
                </a:solidFill>
                <a:latin typeface="Times New Roman"/>
              </a:rPr>
              <a:t>• Mobile Ecosystem: Dedicated Android/iOS parent applications.</a:t>
            </a:r>
          </a:p>
          <a:p>
            <a:r>
              <a:rPr sz="2000" b="0" dirty="0">
                <a:solidFill>
                  <a:srgbClr val="FFFFFF"/>
                </a:solidFill>
                <a:latin typeface="Times New Roman"/>
              </a:rPr>
              <a:t>• Cloud Migration: Enhanced scalability with AWS/Azure.</a:t>
            </a:r>
          </a:p>
          <a:p>
            <a:r>
              <a:rPr sz="2000" b="0" dirty="0">
                <a:solidFill>
                  <a:srgbClr val="FFFFFF"/>
                </a:solidFill>
                <a:latin typeface="Times New Roman"/>
              </a:rPr>
              <a:t>• Interactive Portals: Virtual Parent-Teacher meeting modules.</a:t>
            </a:r>
          </a:p>
        </p:txBody>
      </p:sp>
    </p:spTree>
    <p:extLst>
      <p:ext uri="{BB962C8B-B14F-4D97-AF65-F5344CB8AC3E}">
        <p14:creationId xmlns:p14="http://schemas.microsoft.com/office/powerpoint/2010/main" val="35481075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pt_gradient_bg_v3_1770123504087.png">
            <a:extLst>
              <a:ext uri="{FF2B5EF4-FFF2-40B4-BE49-F238E27FC236}">
                <a16:creationId xmlns:a16="http://schemas.microsoft.com/office/drawing/2014/main" id="{29066C8D-5193-5FFD-E0CE-17DDAD925A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D9EF48D-8101-8FCF-0E35-4C44C8EB71D0}"/>
              </a:ext>
            </a:extLst>
          </p:cNvPr>
          <p:cNvSpPr txBox="1"/>
          <p:nvPr/>
        </p:nvSpPr>
        <p:spPr>
          <a:xfrm>
            <a:off x="888379" y="512212"/>
            <a:ext cx="2390398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3600" b="1" dirty="0">
                <a:solidFill>
                  <a:srgbClr val="FFFFFF"/>
                </a:solidFill>
                <a:latin typeface="Times New Roman"/>
              </a:rPr>
              <a:t>Conclusion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FA1DE80-20FF-0372-C3E2-F75C034834E7}"/>
              </a:ext>
            </a:extLst>
          </p:cNvPr>
          <p:cNvSpPr txBox="1"/>
          <p:nvPr/>
        </p:nvSpPr>
        <p:spPr>
          <a:xfrm>
            <a:off x="272341" y="1666900"/>
            <a:ext cx="8871659" cy="16312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2000" b="0" dirty="0">
                <a:solidFill>
                  <a:srgbClr val="FFFFFF"/>
                </a:solidFill>
                <a:latin typeface="Times New Roman"/>
              </a:rPr>
              <a:t>"SAPT is more than just a tracking tool; it is a comprehensive academic mentor. </a:t>
            </a:r>
          </a:p>
          <a:p>
            <a:r>
              <a:rPr lang="en-US" sz="2000" b="0" dirty="0">
                <a:solidFill>
                  <a:srgbClr val="FFFFFF"/>
                </a:solidFill>
                <a:latin typeface="Times New Roman"/>
              </a:rPr>
              <a:t>By </a:t>
            </a:r>
            <a:r>
              <a:rPr lang="en-US" sz="2000" b="0">
                <a:solidFill>
                  <a:srgbClr val="FFFFFF"/>
                </a:solidFill>
                <a:latin typeface="Times New Roman"/>
              </a:rPr>
              <a:t>leveraging a </a:t>
            </a:r>
            <a:r>
              <a:rPr lang="en-US" sz="2000" b="0" dirty="0">
                <a:solidFill>
                  <a:srgbClr val="FFFFFF"/>
                </a:solidFill>
                <a:latin typeface="Times New Roman"/>
              </a:rPr>
              <a:t>microservice architecture, we have built a platform that </a:t>
            </a:r>
          </a:p>
          <a:p>
            <a:r>
              <a:rPr lang="en-US" sz="2000" b="0" dirty="0">
                <a:solidFill>
                  <a:srgbClr val="FFFFFF"/>
                </a:solidFill>
                <a:latin typeface="Times New Roman"/>
              </a:rPr>
              <a:t>is not only robust but proactive. Through the Target Score Calculator and automated </a:t>
            </a:r>
          </a:p>
          <a:p>
            <a:r>
              <a:rPr lang="en-US" sz="2000" b="0" dirty="0">
                <a:solidFill>
                  <a:srgbClr val="FFFFFF"/>
                </a:solidFill>
                <a:latin typeface="Times New Roman"/>
              </a:rPr>
              <a:t>alerts, we transform raw academic data into actionable goals, empowering every </a:t>
            </a:r>
          </a:p>
          <a:p>
            <a:r>
              <a:rPr lang="en-US" sz="2000" b="0" dirty="0">
                <a:solidFill>
                  <a:srgbClr val="FFFFFF"/>
                </a:solidFill>
                <a:latin typeface="Times New Roman"/>
              </a:rPr>
              <a:t>student to reach their full potential."</a:t>
            </a:r>
            <a:endParaRPr sz="2000" b="0" dirty="0">
              <a:solidFill>
                <a:srgbClr val="FFFFFF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2987219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pt_gradient_bg_v3_177012350408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" y="52039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569642" y="1449658"/>
            <a:ext cx="3677610" cy="14465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endParaRPr sz="4400" b="1" dirty="0">
              <a:solidFill>
                <a:srgbClr val="FFFFFF"/>
              </a:solidFill>
              <a:latin typeface="Times New Roman"/>
            </a:endParaRPr>
          </a:p>
          <a:p>
            <a:pPr algn="ctr"/>
            <a:r>
              <a:rPr sz="4400" b="1" dirty="0">
                <a:solidFill>
                  <a:srgbClr val="FFFFFF"/>
                </a:solidFill>
                <a:latin typeface="Times New Roman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301</Words>
  <Application>Microsoft Office PowerPoint</Application>
  <PresentationFormat>On-screen Show (16:9)</PresentationFormat>
  <Paragraphs>41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VECTOR DARADE</cp:lastModifiedBy>
  <cp:revision>6</cp:revision>
  <dcterms:created xsi:type="dcterms:W3CDTF">2013-01-27T09:14:16Z</dcterms:created>
  <dcterms:modified xsi:type="dcterms:W3CDTF">2026-02-04T05:45:24Z</dcterms:modified>
  <cp:category/>
</cp:coreProperties>
</file>